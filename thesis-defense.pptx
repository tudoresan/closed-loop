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 total incl. demo. Set the scene: cashless festivals are normal now, but they break in a specific way. My thesis is about that failure mode and a pragmatic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30-second roadmap. Don't read it out — just signpost the six beats.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research question. Shafiq shows cellular collapses under crowds (capacity, not config); Download 2015 is the cautionary tale. Schomburgk is the one spending number you can actually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closed-loop crisply: same operator is issuer AND acquirer. The single external touchpoint is top-up. Four reasons festivals choose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incumbents (Tappit, Intellitix, Weezevent, Glownet). Their model = on-site server + private network. Transit cards (Suica/Oyster/Octopus) are the working analog: local deduction, batch reconciliation.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slide: no public data exists, so I talked to Untold. The 2-4h sync delay number is the pivot — it's why I abandoned the on-site-server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O1-O6. The headline (dark card) is the one to land: one codebase, online by default, survives short outages.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options. Reject both extremes for concrete reasons, land on the hybrid. Bottom strip: also rejected CRDTs and fragile connectivity; chose Starlink.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insight: offline almost never fires, so don't architect around it. Four components, nothing at the venue. Borrowed from transit/EMV/event-sourcing.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ideas: single-writer-per-lane (no merge conflict) and double-spend stopped by physics (one chip, atomic decrement). Server-first online, chip-first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'who holds debits and credits' chart. Credits flow server-&gt;chip; debits sync chip-&gt;server. One integer each side; counters give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flowchart slowly. Has internet -&gt; server path. No internet -&gt; chip path + queue. Restore -&gt; reconcile. Top-up always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1 — the scary case. Two offline terminals. It resolves itself because there's one physical chip. No server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2 — the everyday mix. Key beat is step 4: the late offline debit is NOT subtracted twice. Convergence without blocking.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component map before the screenshots. Name the products: Endow (backend+admin), SoftPOS (mobile), the wristband.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portal tour. Point at the screenshot: event lifecycle, vendors+commissions, attendees, bracelets, live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Attendee app — deliberately simple. Balance, history, card top-up. Stress balance is event-scoped, not a global wallet.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POS — the interesting one. Online authorizes server-side; offline the chip is truth + signed queue + auto-sync. Mention the 50 x EUR100 risk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stack. One TS codebase end to end; shared types catch bugs at build. Verified by e2e reconciliation tests on real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tables that carry the money. event_bracelets = wallet; transactions = append-only ledger; payment_intents = real money in. Relations + DB guards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1. Be upfront: I used plain NTAG. HMAC gives integrity, not anti-cloning. DESFire would add mutual auth so only trusted devices read/write. Model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2 — the honest slide examiners reward. Lead with master-key-in-bundle. Each limitation has a concrete next step. Admit: no scale measurements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(~4-5 min). Top up -&gt; charge -&gt; go offline -&gt; tap -&gt; reconnect -&gt; watch sync. Have the wristband and two phones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thesis.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337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914400"/>
            <a:ext cx="5120640" cy="5120640"/>
          </a:xfrm>
          <a:prstGeom prst="oval">
            <a:avLst/>
          </a:prstGeom>
          <a:ln w="19050">
            <a:solidFill>
              <a:srgbClr val="2440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1737360"/>
            <a:ext cx="3474720" cy="3474720"/>
          </a:xfrm>
          <a:prstGeom prst="oval">
            <a:avLst/>
          </a:prstGeom>
          <a:ln w="19050">
            <a:solidFill>
              <a:srgbClr val="2C4C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0" y="2468880"/>
            <a:ext cx="2011680" cy="2011680"/>
          </a:xfrm>
          <a:prstGeom prst="oval">
            <a:avLst/>
          </a:prstGeom>
          <a:solidFill>
            <a:srgbClr val="1C34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944368"/>
            <a:ext cx="1060704" cy="1060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DEFENSE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160020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Cloud-Based Closed-Loop Payment System with Hybrid On-Chip Reconciliation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66928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festival wallet alive when the network has a bad moment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4526280"/>
            <a:ext cx="2926080" cy="0"/>
          </a:xfrm>
          <a:prstGeom prst="line">
            <a:avLst/>
          </a:prstGeom>
          <a:noFill/>
          <a:ln w="25400">
            <a:solidFill>
              <a:srgbClr val="C290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54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AE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Assoc. Prof. Christian Sacărea, PhD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AE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Advanced Information Systems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walk you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11096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09653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38928" y="1764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64208" y="1847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64208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festivals break the usual payment playbook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36208" y="160020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1911096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248" y="209653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08208" y="1764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333488" y="1847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&amp; the field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33488" y="22585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means, who already does it, what they hit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312724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5528" y="3438144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3623584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1664208" y="3374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approach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664208" y="37856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the options I weighed, the model I chose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36208" y="312724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64808" y="3438144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248" y="3623584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08208" y="3291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333488" y="3374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333488" y="37856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two-counter ledger, with a worked example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66928" y="465429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95528" y="4965192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68" y="5150632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38928" y="4818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1664208" y="49011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1664208" y="53126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portal, attendee &amp; vendor apps, tech &amp; data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236208" y="465429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64808" y="4965192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248" y="5150632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08208" y="4818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7333488" y="49011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demo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7333488" y="53126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trust, honest limits, then a live walkthrough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of thousands of people, where the internet barely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 went cashless on RFID wristbands — load money, tap to pay. It is faster and harder to steal than cash. 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meta-analysis of 71 studies (Schomburgk, 2024) finds a small but real lift in spending from removing the friction of physical cash (g = 0.135).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cashless system shares one weakness: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34747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3703320"/>
            <a:ext cx="640080" cy="640080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3869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4389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100×–5,000×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" y="489204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connection failures around a crowded venue vs a routine day (Shafiq et al., 2013) — up to 10 miles out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30168" y="34747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58768" y="3703320"/>
            <a:ext cx="640080" cy="640080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189" y="38697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58768" y="4389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2015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858768" y="4892040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major UK festival to go fully cashless — the RFID system failed, attendees couldn't buy food; cashless-only was dropped the next year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03720" y="1554480"/>
            <a:ext cx="4736592" cy="4389120"/>
          </a:xfrm>
          <a:prstGeom prst="roundRect">
            <a:avLst>
              <a:gd name="adj" fmla="val 2083"/>
            </a:avLst>
          </a:prstGeom>
          <a:solidFill>
            <a:srgbClr val="152337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2694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269480" y="2331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build a payment system that works reliably at a festival — and does not fall apart when the network has a bad moment?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7269480" y="4160520"/>
            <a:ext cx="2011680" cy="0"/>
          </a:xfrm>
          <a:prstGeom prst="line">
            <a:avLst/>
          </a:prstGeom>
          <a:noFill/>
          <a:ln w="12700">
            <a:solidFill>
              <a:srgbClr val="3A567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269480" y="42976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collapse under crowds is a capacity limit, not a config bug — portable towers and free Wi-Fi did not fix it.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closed-loop payment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is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issuer and acquirer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Money stays inside the operator's own perimeter — from top-up to refund — instead of crossing banks, card schemes and processors the merchant doesn't control (the open-loop / Visa–Mastercard world).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5212080" cy="2697480"/>
          </a:xfrm>
          <a:prstGeom prst="roundRect">
            <a:avLst>
              <a:gd name="adj" fmla="val 3390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EXTERNAL TOUCHPOINT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86968" y="37947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money only enters the loop once — at top-up (via Stripe). Everything after that is internal tokens. Nothing leaves the venue.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6968" y="4892040"/>
            <a:ext cx="731520" cy="73152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508223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55648" y="5074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 →  tokens  →  tap to spend  →  settle, all in-house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72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festivals lean closed-loop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72200" y="2011680"/>
            <a:ext cx="658368" cy="658368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376" y="218285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9933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995160" y="2322576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authorization logic lives inside the operator's own infrastructure — no dependence on distant external hosts.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6172200" y="2999232"/>
            <a:ext cx="658368" cy="658368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76" y="3170408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29809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995160" y="331012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fees are paid once, at top-up — not interchange on every single tap.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6172200" y="3986784"/>
            <a:ext cx="658368" cy="658368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376" y="4157960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9684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95160" y="429768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tokens redeemable only on-site fit the PSD2 limited-network exemption.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6172200" y="4974336"/>
            <a:ext cx="658368" cy="658368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376" y="5145512"/>
            <a:ext cx="316017" cy="3160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95160" y="49560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995160" y="5285232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sets limits, refunds, vendor approvals and settlement timing — no card scheme dictating terms.</a:t>
            </a:r>
            <a:endParaRPr lang="en-US" sz="1180" dirty="0"/>
          </a:p>
        </p:txBody>
      </p:sp>
      <p:sp>
        <p:nvSpPr>
          <p:cNvPr id="28" name="Text 21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FIELD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already does this — and what they run into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festival platforms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5233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74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29968" y="18745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52337"/>
          </a:solidFill>
          <a:ln/>
        </p:spPr>
      </p:sp>
      <p:sp>
        <p:nvSpPr>
          <p:cNvPr id="8" name="Text 6"/>
          <p:cNvSpPr/>
          <p:nvPr/>
        </p:nvSpPr>
        <p:spPr>
          <a:xfrm>
            <a:off x="2029968" y="1874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Intellitix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93008" y="18745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52337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874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Weezevent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56048" y="18745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52337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18745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Glownet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2697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architecture: RFID wristband + an on-site server + vendor terminals on a private network + a back office for top-ups and reporting.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852160" cy="987552"/>
          </a:xfrm>
          <a:prstGeom prst="roundRect">
            <a:avLst>
              <a:gd name="adj" fmla="val 9259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904488"/>
            <a:ext cx="585216" cy="585216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252" y="4056644"/>
            <a:ext cx="280904" cy="28090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81328" y="38313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chips persist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81328" y="4123944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deployments still use MIFARE Classic, whose CRYPTO1 cipher was broken in practice (Garcia et al., 2008). DESFire fixes it but costs more.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4800600"/>
            <a:ext cx="5852160" cy="987552"/>
          </a:xfrm>
          <a:prstGeom prst="roundRect">
            <a:avLst>
              <a:gd name="adj" fmla="val 9259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8096" y="5001768"/>
            <a:ext cx="585216" cy="585216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52" y="5153924"/>
            <a:ext cx="280904" cy="2809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81328" y="49286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&amp; undocumented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481328" y="5221224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are proprietary; public failures (Download 2015) are reconstructed from press, not published post-mortems.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720840" y="1508760"/>
            <a:ext cx="4919472" cy="4434840"/>
          </a:xfrm>
          <a:prstGeom prst="roundRect">
            <a:avLst>
              <a:gd name="adj" fmla="val 2062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040880" y="1783080"/>
            <a:ext cx="731520" cy="73152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075" y="1973275"/>
            <a:ext cx="351130" cy="35113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909560" y="1783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closest working analog: transit cards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040880" y="2697480"/>
            <a:ext cx="4343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Suica · Oyster · Octopus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deducted locally at the gate via an encrypted read-write — about 0.1 s, no network round-trip.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FeliCa mutual authentication makes a fresh session key per tap; the chip's secret never leaves secure memory, so cloning is hard.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“Offline at the point of sale, online for the back office.”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FIELD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public data — so I asked people who run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760720" cy="4160520"/>
          </a:xfrm>
          <a:prstGeom prst="roundRect">
            <a:avLst>
              <a:gd name="adj" fmla="val 2198"/>
            </a:avLst>
          </a:prstGeom>
          <a:solidFill>
            <a:srgbClr val="152337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659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788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Conversations with payment-infrastructure people at Untold — one of Romania's largest festivals — added the piece no paper had.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32688" y="42519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on-site servers and a private network,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sync delays of two to four hours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4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terminals were common once Wi-Fi coverage degraded.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told me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766560" y="2240280"/>
            <a:ext cx="658368" cy="658368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736" y="241145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219456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venue Wi-Fi is itself a hard infrastructure problem — not a deployment detail you can assume away.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766560" y="3474720"/>
            <a:ext cx="658368" cy="658368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736" y="3645896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34290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on-site-server model puts the balance on a remote box every tap must reach. When the link degrades, money visibly stops moving.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766560" y="4709160"/>
            <a:ext cx="658368" cy="658368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736" y="4880336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89520" y="466344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lesson that pushed me off that pattern — toward the cloud as source of truth and the chip as a local fallback.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657600" cy="4343400"/>
          </a:xfrm>
          <a:prstGeom prst="roundRect">
            <a:avLst>
              <a:gd name="adj" fmla="val 2500"/>
            </a:avLst>
          </a:prstGeom>
          <a:solidFill>
            <a:srgbClr val="152337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22860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MVP closed-loop wallet that is online by default, and stays usable through short outages — without splitting the code into separate online and offline systems.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4800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vendor flow up or down; chip and server take turns as the local source of truth.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17099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C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636008" y="1819656"/>
            <a:ext cx="548640" cy="54864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8654" y="1962302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0" y="1783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36008" y="22585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that survives short outages — no forked online/offline build.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93608" y="160020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1173968" y="17099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C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8494776" y="1819656"/>
            <a:ext cx="548640" cy="54864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422" y="1962302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62288" y="1783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service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494776" y="22585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 online-only; debits work online and offline, queued for later.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434840" y="31089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315200" y="321868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C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4636008" y="3328416"/>
            <a:ext cx="548640" cy="54864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654" y="3471062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3291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636008" y="37673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converges after offline windows with no ad-hoc conflict rules.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293608" y="31089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11173968" y="321868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C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8494776" y="3328416"/>
            <a:ext cx="548640" cy="54864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422" y="3471062"/>
            <a:ext cx="263347" cy="26334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62288" y="3291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494776" y="37673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Vendors, products, users and events — the administrative backbone.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43484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7315200" y="47274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C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1900" dirty="0"/>
          </a:p>
        </p:txBody>
      </p:sp>
      <p:sp>
        <p:nvSpPr>
          <p:cNvPr id="34" name="Shape 28"/>
          <p:cNvSpPr/>
          <p:nvPr/>
        </p:nvSpPr>
        <p:spPr>
          <a:xfrm>
            <a:off x="4636008" y="4837176"/>
            <a:ext cx="548640" cy="54864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654" y="4979822"/>
            <a:ext cx="263347" cy="26334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03520" y="48006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636008" y="52760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mobile app that adapts to attendee / vendor, plus a web dashboard.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293608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11173968" y="47274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CE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O6</a:t>
            </a:r>
            <a:endParaRPr lang="en-US" sz="1900" dirty="0"/>
          </a:p>
        </p:txBody>
      </p:sp>
      <p:sp>
        <p:nvSpPr>
          <p:cNvPr id="40" name="Shape 33"/>
          <p:cNvSpPr/>
          <p:nvPr/>
        </p:nvSpPr>
        <p:spPr>
          <a:xfrm>
            <a:off x="8494776" y="4837176"/>
            <a:ext cx="548640" cy="54864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422" y="4979822"/>
            <a:ext cx="263347" cy="26334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162288" y="48006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trade-offs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8494776" y="52760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what a real festival actually needs.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DESIGN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options I weighed — and why I rejected the extremes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balance live?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30552"/>
            <a:ext cx="658368" cy="658368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30172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8488" y="2167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Server-only balance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is a pure cache. Simple online — but once offline, two terminals can't detect a double-spend.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11480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F2E3E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1148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88536" y="18745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130552"/>
            <a:ext cx="658368" cy="658368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744" y="2301728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0096" y="2167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Chip-only balance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544568" y="297180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transit-card style. Sidesteps double-spend — but credit handling moves onto a machine, and festival top-ups happen in the app with no chip nearby.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44568" y="411480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F2E3E3"/>
          </a:solidFill>
          <a:ln/>
        </p:spPr>
      </p:sp>
      <p:sp>
        <p:nvSpPr>
          <p:cNvPr id="18" name="Text 14"/>
          <p:cNvSpPr/>
          <p:nvPr/>
        </p:nvSpPr>
        <p:spPr>
          <a:xfrm>
            <a:off x="4544568" y="41148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10144" y="18745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EFF5F0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10144" y="1874520"/>
            <a:ext cx="3520440" cy="2743200"/>
          </a:xfrm>
          <a:prstGeom prst="roundRect">
            <a:avLst>
              <a:gd name="adj" fmla="val 3333"/>
            </a:avLst>
          </a:prstGeom>
          <a:ln w="22225">
            <a:solidFill>
              <a:srgbClr val="2E7D5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66176" y="2130552"/>
            <a:ext cx="658368" cy="658368"/>
          </a:xfrm>
          <a:prstGeom prst="oval">
            <a:avLst/>
          </a:prstGeom>
          <a:solidFill>
            <a:srgbClr val="E2F0E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352" y="2301728"/>
            <a:ext cx="316017" cy="31601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61704" y="2167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Two-counter hybrid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266176" y="297180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caches the balance and owns debits; server owns credits. Each side leads based on what's actually available.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266176" y="4114800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E2F0E8"/>
          </a:solidFill>
          <a:ln/>
        </p:spPr>
      </p:sp>
      <p:sp>
        <p:nvSpPr>
          <p:cNvPr id="26" name="Text 21"/>
          <p:cNvSpPr/>
          <p:nvPr/>
        </p:nvSpPr>
        <p:spPr>
          <a:xfrm>
            <a:off x="8266176" y="41148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66928" y="4892040"/>
            <a:ext cx="11055096" cy="1051560"/>
          </a:xfrm>
          <a:prstGeom prst="roundRect">
            <a:avLst>
              <a:gd name="adj" fmla="val 8696"/>
            </a:avLst>
          </a:prstGeom>
          <a:solidFill>
            <a:srgbClr val="152337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886968" y="5074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weighed: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2578608" y="5029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/ CRDTs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converge but can't enforce “balance ≥ 0”; kept only as a read cache. 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private LTE &amp; phone mesh too fragile →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+ redundant topology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nothing to deploy at the venue.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by default, with the wristband as a bounded fallback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1234440"/>
          </a:xfrm>
          <a:prstGeom prst="roundRect">
            <a:avLst>
              <a:gd name="adj" fmla="val 7407"/>
            </a:avLst>
          </a:prstGeom>
          <a:solidFill>
            <a:srgbClr val="152337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691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C2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offline path almost never fires.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E2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 don't build everything around it — the cloud is the source of truth via Starlink, and the chip carries just enough state to keep the rare offline tap safe.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components, nothing installed at the venue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85900" y="3703320"/>
            <a:ext cx="768096" cy="768096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605" y="3903025"/>
            <a:ext cx="368686" cy="3686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4088" y="48097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multi-tenant service for every festival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46704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65676" y="3703320"/>
            <a:ext cx="768096" cy="768096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81" y="3903025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38144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83864" y="48097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attendees and vendors, one binary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5452" y="3703320"/>
            <a:ext cx="768096" cy="768096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157" y="3903025"/>
            <a:ext cx="368686" cy="36868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63640" y="48097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run the event from a browser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06256" y="3474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25228" y="3703320"/>
            <a:ext cx="768096" cy="768096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933" y="3903025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97696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wristband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043416" y="480974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token balance + counters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66928" y="5440680"/>
            <a:ext cx="11055096" cy="640080"/>
          </a:xfrm>
          <a:prstGeom prst="roundRect">
            <a:avLst>
              <a:gd name="adj" fmla="val 14286"/>
            </a:avLst>
          </a:prstGeom>
          <a:solidFill>
            <a:srgbClr val="EFE2C4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86968" y="5440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deliberately: 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cards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on-chip spend cache  · 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EMV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offline always trades availability for capped risk  · 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every movement is an immutable row.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writer per lane — and physics does the hard 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577840" cy="434340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writer per lane = no merge conflict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" y="233172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E2F0E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420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8488" y="23591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— only the server writes
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Top-ups, refunds, adjustments. Increment credit_counter.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86968" y="333756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2E3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5478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18488" y="336499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DEBITS — only the chip writes
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spend decrements balance + bumps debit_counter, atomically.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86968" y="43891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monotonic counters, one owner each. Reconciliation is just the union of two non-conflicting streams.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55080" y="1600200"/>
            <a:ext cx="5285232" cy="4343400"/>
          </a:xfrm>
          <a:prstGeom prst="roundRect">
            <a:avLst>
              <a:gd name="adj" fmla="val 2105"/>
            </a:avLst>
          </a:prstGeom>
          <a:solidFill>
            <a:srgbClr val="152337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75120" y="1874520"/>
            <a:ext cx="731520" cy="731520"/>
          </a:xfrm>
          <a:prstGeom prst="oval">
            <a:avLst/>
          </a:prstGeom>
          <a:solidFill>
            <a:srgbClr val="1E34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15" y="206471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Double-spend is stopped by physics, not consensus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675120" y="27889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wristband is one physical object the customer carries.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terminal can touch it at a time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on-chip decrement is atomic. Two terminals cannot hold the same chip in the same instant.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75120" y="4343400"/>
            <a:ext cx="4480560" cy="0"/>
          </a:xfrm>
          <a:prstGeom prst="line">
            <a:avLst/>
          </a:prstGeom>
          <a:noFill/>
          <a:ln w="12700">
            <a:solidFill>
              <a:srgbClr val="3A567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675120" y="4480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Server-first when online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place to enforce invariants.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Chip-first when offline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the invariant can hold at all.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THE LEDGER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holds the debits and the credits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21408" y="2176272"/>
            <a:ext cx="822960" cy="82296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378" y="2390242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 (chip)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" y="3474720"/>
            <a:ext cx="3383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3749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spendable balance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1248" y="4078224"/>
            <a:ext cx="3383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408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debit_counter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78408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— +1 each spend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41248" y="4681728"/>
            <a:ext cx="3383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92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credit_counter_seen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8408" y="4956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credit it has acknowledged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08392" y="19202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262872" y="2176272"/>
            <a:ext cx="822960" cy="82296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842" y="2390242"/>
            <a:ext cx="395021" cy="39502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708392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(source of truth)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982712" y="3474720"/>
            <a:ext cx="3383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19872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119872" y="3749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balance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982712" y="4078224"/>
            <a:ext cx="3383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19872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credit_counter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119872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— +1 each top-up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7982712" y="4681728"/>
            <a:ext cx="33832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119872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92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debit_counter_seen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119872" y="4956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chip debit reconciled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590288" y="224028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E2F0E8"/>
          </a:solidFill>
          <a:ln/>
        </p:spPr>
      </p:sp>
      <p:sp>
        <p:nvSpPr>
          <p:cNvPr id="31" name="Text 27"/>
          <p:cNvSpPr/>
          <p:nvPr/>
        </p:nvSpPr>
        <p:spPr>
          <a:xfrm>
            <a:off x="4590288" y="23042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90288" y="257860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 flow server → chip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590288" y="3246120"/>
            <a:ext cx="3026664" cy="0"/>
          </a:xfrm>
          <a:prstGeom prst="line">
            <a:avLst/>
          </a:prstGeom>
          <a:noFill/>
          <a:ln w="28575">
            <a:solidFill>
              <a:srgbClr val="2E7D52"/>
            </a:solidFill>
            <a:prstDash val="solid"/>
            <a:headEnd type="triangle"/>
          </a:ln>
        </p:spPr>
      </p:sp>
      <p:sp>
        <p:nvSpPr>
          <p:cNvPr id="34" name="Shape 30"/>
          <p:cNvSpPr/>
          <p:nvPr/>
        </p:nvSpPr>
        <p:spPr>
          <a:xfrm>
            <a:off x="4590288" y="411480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F2E3E3"/>
          </a:solidFill>
          <a:ln/>
        </p:spPr>
      </p:sp>
      <p:sp>
        <p:nvSpPr>
          <p:cNvPr id="35" name="Text 31"/>
          <p:cNvSpPr/>
          <p:nvPr/>
        </p:nvSpPr>
        <p:spPr>
          <a:xfrm>
            <a:off x="4590288" y="417880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DEBITS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590288" y="445312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sync chip → server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590288" y="5120640"/>
            <a:ext cx="3026664" cy="0"/>
          </a:xfrm>
          <a:prstGeom prst="line">
            <a:avLst/>
          </a:prstGeom>
          <a:noFill/>
          <a:ln w="28575">
            <a:solidFill>
              <a:srgbClr val="9E3B3B"/>
            </a:solidFill>
            <a:prstDash val="solid"/>
            <a:tailEnd type="triangle"/>
          </a:ln>
        </p:spPr>
      </p:sp>
      <p:sp>
        <p:nvSpPr>
          <p:cNvPr id="38" name="Text 34"/>
          <p:cNvSpPr/>
          <p:nvPr/>
        </p:nvSpPr>
        <p:spPr>
          <a:xfrm>
            <a:off x="566928" y="54864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one integer in minor units (cents) on each side — not classic double-entry. The counters give the integrity that paired rows would.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THE LEDGER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tap, two paths: the decision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48995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pic>
        <p:nvPicPr>
          <p:cNvPr id="5" name="Image 0" descr="img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91640"/>
            <a:ext cx="444234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32228" y="1600200"/>
            <a:ext cx="5780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flow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832228" y="2103120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139" y="2260031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00324" y="2066544"/>
            <a:ext cx="50125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has internet?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600324" y="2377440"/>
            <a:ext cx="50125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send the tap + chip state to the server, which validates and awards any unseen credits, then writes back new chip state + a fresh HMAC.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32228" y="3090672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139" y="3247583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00324" y="3054096"/>
            <a:ext cx="50125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internet?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600324" y="3364992"/>
            <a:ext cx="50125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chip's own balance locally. Enough? Accept, bump the debit counter, queue the signed debit.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832228" y="4078224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139" y="4235135"/>
            <a:ext cx="289682" cy="2896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00324" y="4041648"/>
            <a:ext cx="50125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restored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600324" y="4352544"/>
            <a:ext cx="50125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drains; the server reconciles the offline debits idempotently.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832228" y="5065776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139" y="5222687"/>
            <a:ext cx="289682" cy="2896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00324" y="5029200"/>
            <a:ext cx="50125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(always online)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600324" y="5340096"/>
            <a:ext cx="50125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raises balance + credit counter; the chip picks it up on its next tap.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offline terminals, one real chip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state — both sides agree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105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 ( balance 50,  debit 0,  credit_seen 0 )    =    server ( balance 50,  credit 0,  debit_seen 0 )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862072"/>
            <a:ext cx="566928" cy="566928"/>
          </a:xfrm>
          <a:prstGeom prst="oval">
            <a:avLst/>
          </a:prstGeom>
          <a:solidFill>
            <a:srgbClr val="23446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27048" y="28803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 taps first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spends 30. A writes ( 20, 1, 0 ) to the chip before terminal B ever sees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30083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348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( 20,  1,  0 )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88536" y="26060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2862072"/>
            <a:ext cx="566928" cy="566928"/>
          </a:xfrm>
          <a:prstGeom prst="oval">
            <a:avLst/>
          </a:prstGeom>
          <a:solidFill>
            <a:srgbClr val="23446A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48656" y="28803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 taps next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44568" y="356616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reads ( 20, 1, 0 ) — not the stale 50. It can only authorize against the remaining 20.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44568" y="4434840"/>
            <a:ext cx="30083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44348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 20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10144" y="26060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2F0E8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66176" y="2862072"/>
            <a:ext cx="566928" cy="566928"/>
          </a:xfrm>
          <a:prstGeom prst="oval">
            <a:avLst/>
          </a:prstGeom>
          <a:solidFill>
            <a:srgbClr val="2E7D52"/>
          </a:solidFill>
          <a:ln/>
        </p:spPr>
      </p:sp>
      <p:sp>
        <p:nvSpPr>
          <p:cNvPr id="23" name="Text 21"/>
          <p:cNvSpPr/>
          <p:nvPr/>
        </p:nvSpPr>
        <p:spPr>
          <a:xfrm>
            <a:off x="8266176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70264" y="28803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bad window exists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66176" y="356616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never an instant where both terminals read balance = 50. The single physical chip prevents the joint over-spend — no server involved.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66176" y="4434840"/>
            <a:ext cx="30083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44348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double-spend case — and it resolves itself.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normal path: an offline spend, a top-up, an online spend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896112"/>
          </a:xfrm>
          <a:prstGeom prst="roundRect">
            <a:avLst>
              <a:gd name="adj" fmla="val 10204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55448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18488" y="166420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spend of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07408" y="1645920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→ ( 40, 1, 0 ); terminal queues a debit of 10 at counter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985248" y="1792224"/>
            <a:ext cx="14630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17922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 40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560320"/>
            <a:ext cx="11055096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56032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18488" y="267004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of 20 (online)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07408" y="2651760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( 70, 1, 0 ); credit counter advances to 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85248" y="2798064"/>
            <a:ext cx="1463040" cy="420624"/>
          </a:xfrm>
          <a:prstGeom prst="roundRect">
            <a:avLst>
              <a:gd name="adj" fmla="val 13043"/>
            </a:avLst>
          </a:prstGeom>
          <a:solidFill>
            <a:srgbClr val="F3F6F9"/>
          </a:solidFill>
          <a:ln w="15875">
            <a:solidFill>
              <a:srgbClr val="2E7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85248" y="27980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70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11055096" cy="1078992"/>
          </a:xfrm>
          <a:prstGeom prst="roundRect">
            <a:avLst>
              <a:gd name="adj" fmla="val 8475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3566160"/>
            <a:ext cx="640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18488" y="367588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spend of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07408" y="3657600"/>
            <a:ext cx="5440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reads ( 40,1,0 ); server sees chip is ahead + a credit unseen → spendable = 40 + 20 = 60, capped at 70. After −5: balance 55. Chip ← ( 55, 2, 1 )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985248" y="3895344"/>
            <a:ext cx="14630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234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5248" y="389534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55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754880"/>
            <a:ext cx="11055096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" y="475488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618488" y="486460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debit syncs later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07408" y="4846320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already absorbed that spend → it does NOT subtract 10 again. Kept as a history row for settlement. Balance stays 55.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985248" y="4992624"/>
            <a:ext cx="1463040" cy="420624"/>
          </a:xfrm>
          <a:prstGeom prst="roundRect">
            <a:avLst>
              <a:gd name="adj" fmla="val 13043"/>
            </a:avLst>
          </a:prstGeom>
          <a:solidFill>
            <a:srgbClr val="F3F6F9"/>
          </a:solidFill>
          <a:ln w="15875">
            <a:solidFill>
              <a:srgbClr val="2E7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85248" y="4992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double-count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5779008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converge — without blocking the online purchase on another device's sync timing.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moving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2748" y="2011680"/>
            <a:ext cx="914400" cy="91440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2494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backend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84148" y="350215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FE2C4"/>
          </a:solidFill>
          <a:ln/>
        </p:spPr>
      </p:sp>
      <p:sp>
        <p:nvSpPr>
          <p:cNvPr id="9" name="Text 6"/>
          <p:cNvSpPr/>
          <p:nvPr/>
        </p:nvSpPr>
        <p:spPr>
          <a:xfrm>
            <a:off x="1184148" y="3502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Endow API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397764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service: wallets, vendors, events, top-ups, reconciliation. Single multi-tenant deployment.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92524" y="2011680"/>
            <a:ext cx="914400" cy="91440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2494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38144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963924" y="350215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FE2C4"/>
          </a:solidFill>
          <a:ln/>
        </p:spPr>
      </p:sp>
      <p:sp>
        <p:nvSpPr>
          <p:cNvPr id="16" name="Text 12"/>
          <p:cNvSpPr/>
          <p:nvPr/>
        </p:nvSpPr>
        <p:spPr>
          <a:xfrm>
            <a:off x="3963924" y="3502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“Endow”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47872" y="397764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dashboard for organizers — run the whole event from a browser.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26480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72300" y="2011680"/>
            <a:ext cx="914400" cy="91440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44" y="224942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743700" y="350215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FE2C4"/>
          </a:solidFill>
          <a:ln/>
        </p:spPr>
      </p:sp>
      <p:sp>
        <p:nvSpPr>
          <p:cNvPr id="23" name="Text 18"/>
          <p:cNvSpPr/>
          <p:nvPr/>
        </p:nvSpPr>
        <p:spPr>
          <a:xfrm>
            <a:off x="6743700" y="3502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SoftPOS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327648" y="397764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 Native binary that switches role: attendee, event-staff, or vendor POS.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906256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752076" y="2011680"/>
            <a:ext cx="914400" cy="914400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24942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97696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 wristband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9523476" y="350215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FE2C4"/>
          </a:solidFill>
          <a:ln/>
        </p:spPr>
      </p:sp>
      <p:sp>
        <p:nvSpPr>
          <p:cNvPr id="30" name="Text 24"/>
          <p:cNvSpPr/>
          <p:nvPr/>
        </p:nvSpPr>
        <p:spPr>
          <a:xfrm>
            <a:off x="9523476" y="3502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107424" y="397764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NTAG chip carrying a signed 28-byte balance record + counters.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ADMIN PORTAL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organizers can do from the browser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39" y="180283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4168" y="16276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lifecycle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44168" y="192938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events; drive draft → setup → active → settlement → closed. Set the token-to-currency rate.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514600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39" y="267151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4168" y="24963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44168" y="279806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and approve vendor stands, set commission rates, manage cashiers.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3383280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" y="3540191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44168" y="33649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attendees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44168" y="366674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staff with roles; issue ticket invites (QR by email).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" y="4251960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" y="4408871"/>
            <a:ext cx="289682" cy="2896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44168" y="42336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Bracelets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44168" y="453542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Link, revoke and replace wristbands; pull an offline sync bundle.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66928" y="5120640"/>
            <a:ext cx="603504" cy="603504"/>
          </a:xfrm>
          <a:prstGeom prst="oval">
            <a:avLst/>
          </a:prstGeom>
          <a:solidFill>
            <a:srgbClr val="EAF0F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39" y="5277551"/>
            <a:ext cx="289682" cy="2896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51023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44168" y="540410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volume, transaction counts and settlement totals per event.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43600" y="1965960"/>
            <a:ext cx="5806440" cy="3754816"/>
          </a:xfrm>
          <a:prstGeom prst="roundRect">
            <a:avLst>
              <a:gd name="adj" fmla="val 243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pic>
        <p:nvPicPr>
          <p:cNvPr id="25" name="Image 5" descr="img/admin_port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103120"/>
            <a:ext cx="5532120" cy="34804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80760" y="565676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dashboard — live sales, vendors, attendees and bracelet inventory in one view.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ATTENDEE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wallet in the attendee's pocket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0" y="1508760"/>
            <a:ext cx="2506474" cy="4800600"/>
          </a:xfrm>
          <a:prstGeom prst="roundRect">
            <a:avLst>
              <a:gd name="adj" fmla="val 3648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pic>
        <p:nvPicPr>
          <p:cNvPr id="5" name="Image 0" descr="img/attend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691640"/>
            <a:ext cx="2049274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00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read-mostly consumer wallet — the attendee never touches the protocol underneath.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2468880"/>
            <a:ext cx="658368" cy="658368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04" y="2640056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5608" y="24688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balance &amp; history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35608" y="279806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event balance and every payment / top-up, per wristband.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66928" y="3520440"/>
            <a:ext cx="658368" cy="658368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04" y="3691616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35608" y="35204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by card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35608" y="384962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 Sheet → balance credited to that exact bracelet (online only).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66928" y="4572000"/>
            <a:ext cx="658368" cy="658368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04" y="4743176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35608" y="4572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event-scoped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435608" y="490118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the event_bracelet, not a global wallet — leftover credit can't leak across festivals.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VENDOR POS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 of sale that keeps working offline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0" y="1508760"/>
            <a:ext cx="2506474" cy="4800600"/>
          </a:xfrm>
          <a:prstGeom prst="roundRect">
            <a:avLst>
              <a:gd name="adj" fmla="val 3648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pic>
        <p:nvPicPr>
          <p:cNvPr id="5" name="Image 0" descr="img/ven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691640"/>
            <a:ext cx="2049274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00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binary, vendor scope. “Enter amount, tap a wristband.” The charge flow is offline-capable.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2331720"/>
            <a:ext cx="621792" cy="62179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94" y="2493386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231343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 bracelet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389888" y="26151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server authorizes and returns the new chip state to write back.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66928" y="3264408"/>
            <a:ext cx="621792" cy="62179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3426074"/>
            <a:ext cx="298460" cy="298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9888" y="324612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chip is truth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389888" y="35478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on-chip, bump the debit counter, append a signed debit to a persistent queue.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66928" y="4197096"/>
            <a:ext cx="621792" cy="62179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4" y="4358762"/>
            <a:ext cx="298460" cy="298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89888" y="417880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on reconnect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389888" y="4480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flushes the queue; debits replay idempotently, sorted by counter.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66928" y="5129784"/>
            <a:ext cx="621792" cy="62179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94" y="5291450"/>
            <a:ext cx="298460" cy="298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89888" y="511149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risk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389888" y="54132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of 50 queued debits × €100 — the festival's pre-accepted worst case per dead terminal.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TypeScript codebase,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1239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93852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86968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 + Drizzle ORM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(serverless Neon)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Auth — email OTP, bearer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SDK + signed webhooks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App Platform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64592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856" y="1938528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296" y="212396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5816" y="193852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(SoftPOS)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08576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react-native-nfc-manager (NTAG)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@noble/hashes — HKDF + HMAC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expo-file-system offline queue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+ Axios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64592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4464" y="1938528"/>
            <a:ext cx="713232" cy="713232"/>
          </a:xfrm>
          <a:prstGeom prst="oval">
            <a:avLst/>
          </a:prstGeom>
          <a:solidFill>
            <a:srgbClr val="E7ED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904" y="212396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193852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30184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TypeScript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on Radix + Tailwind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Query, React Hook Form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Recharts, Better Auth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Testing Library + MSW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66928" y="58978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 across chip ↔ terminal ↔ server catch mismatches at build time. Verified by end-to-end reconciliation tests on real Postgres (Testcontainers).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tables that carry the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70332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00200"/>
            <a:ext cx="3703320" cy="457200"/>
          </a:xfrm>
          <a:prstGeom prst="roundRect">
            <a:avLst>
              <a:gd name="adj" fmla="val 16000"/>
            </a:avLst>
          </a:prstGeom>
          <a:solidFill>
            <a:srgbClr val="23446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event_bracelets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wallet, cents (≥ 0)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36829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debit_counter_seen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chip debits applied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credit_counter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server-owned, top-ups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990088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wristbandUid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physical NFC chip 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300984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active / revoked / repl.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758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— balance is event-scoped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3703320" cy="2432304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600200"/>
            <a:ext cx="3703320" cy="457200"/>
          </a:xfrm>
          <a:prstGeom prst="roundRect">
            <a:avLst>
              <a:gd name="adj" fmla="val 16000"/>
            </a:avLst>
          </a:prstGeom>
          <a:solidFill>
            <a:srgbClr val="3E6E9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82312" y="2057400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debit | credit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82312" y="236829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always positive, cents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2312" y="2679192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debit_counter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set on debit rows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82312" y="2990088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credit_counter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set on credit rows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2312" y="3300984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90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idempotencyKey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unique — stops replays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82312" y="3611880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queued vs live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4069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— append-only journal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21040" y="1600200"/>
            <a:ext cx="3319272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21040" y="1600200"/>
            <a:ext cx="3319272" cy="457200"/>
          </a:xfrm>
          <a:prstGeom prst="roundRect">
            <a:avLst>
              <a:gd name="adj" fmla="val 16000"/>
            </a:avLst>
          </a:prstGeom>
          <a:solidFill>
            <a:srgbClr val="5A6B7B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16002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payment_intents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85632" y="2057400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providerIntentId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Stripe id, unique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85632" y="236829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eventBraceletId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credit this bracelet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85632" y="267919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/ status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top-up tracking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85632" y="299008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transactionId</a:t>
            </a:r>
            <a:pPr indent="0" marL="0">
              <a:buNone/>
            </a:pPr>
            <a:r>
              <a:rPr lang="en-US" sz="9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ledger row on ok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34472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 — real money 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074920"/>
            <a:ext cx="11055096" cy="100584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1248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ties together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event_bracelets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34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Everything is reachable from the event row — multi-tenancy without a tenant column on every table.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Guards: balance ≥ 0 CHECK · partial-unique indexes (one active bracelet per UID &amp; per user) · unique Stripe intent id.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 trust: what plain NTAG gives — and what DESFire would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layout — 28 bytes in NTAG user memory</a:t>
            </a:r>
            <a:endParaRPr lang="en-US" sz="1100" dirty="0"/>
          </a:p>
        </p:txBody>
      </p:sp>
      <p:pic>
        <p:nvPicPr>
          <p:cNvPr id="6" name="Image 0" descr="img/n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65960"/>
            <a:ext cx="7955280" cy="14501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
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HKDF(master, salt = chip UID). Anyone can read; only the key holder can forge an accepted record.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971800"/>
            <a:ext cx="5394960" cy="297180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3200400"/>
            <a:ext cx="603504" cy="603504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59" y="335731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32004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shipped: plain NTAG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41248" y="3931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no secure element. The HMAC gives integrity — a fabricated balance fails verification on the next read.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chip holds no secret, so it can't prove it's the original. A full clone carries a valid signed state.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45352" y="2971800"/>
            <a:ext cx="5394960" cy="2971800"/>
          </a:xfrm>
          <a:prstGeom prst="roundRect">
            <a:avLst>
              <a:gd name="adj" fmla="val 3077"/>
            </a:avLst>
          </a:prstGeom>
          <a:solidFill>
            <a:srgbClr val="152337"/>
          </a:solidFill>
          <a:ln/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19672" y="3200400"/>
            <a:ext cx="603504" cy="603504"/>
          </a:xfrm>
          <a:prstGeom prst="oval">
            <a:avLst/>
          </a:prstGeom>
          <a:solidFill>
            <a:srgbClr val="1E345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583" y="335731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51192" y="32004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upgrade: MIFARE DESFire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19672" y="3931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E2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EV2/EV3 has a secure element with AES-128 mutual authentication and diversified keys.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proves possession of a secret during the tap — so only trusted devices that pass the handshake can read or write it. Cloning stops being viable.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66928" y="6053328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model doesn't change — only the terminal's read/write path adds the handshake.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4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 — and where they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603504" cy="603504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9019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 in the app bundle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7860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inlines EXPO_PUBLIC_* into the JS. Pull the APK and you can derive every bracelet key. This is the load-bearing weakness.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2735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keys via a short-lived channel; ultimately a DESFire secure element.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63056" y="16459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19088" y="1901952"/>
            <a:ext cx="603504" cy="603504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999" y="2058863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23176" y="19019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NTAG cloning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19088" y="257860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clone is usable during one offline window before counters disagree. Bounded by the copied balance, not zero.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19088" y="32735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DESFire mutual auth removes cloning entirely.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66928" y="3858768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114800"/>
            <a:ext cx="603504" cy="603504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427171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7048" y="411480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attestation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2960" y="479145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phone rooted after whitelisting exposes both the token and the key.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5486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attestation + fast revoke of lost terminals.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63056" y="3858768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3F6F9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D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9088" y="4114800"/>
            <a:ext cx="603504" cy="603504"/>
          </a:xfrm>
          <a:prstGeom prst="oval">
            <a:avLst/>
          </a:prstGeom>
          <a:solidFill>
            <a:srgbClr val="EFE2C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999" y="4271711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23176" y="411480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festival-scale numbers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419088" y="479145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qualitative — no tap latency, throughput or load test yet.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19088" y="5486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3E6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at scale is the headline future work.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337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108960"/>
            <a:ext cx="5486400" cy="5486400"/>
          </a:xfrm>
          <a:prstGeom prst="oval">
            <a:avLst/>
          </a:prstGeom>
          <a:ln w="19050">
            <a:solidFill>
              <a:srgbClr val="2038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-2011680"/>
            <a:ext cx="5943600" cy="5943600"/>
          </a:xfrm>
          <a:prstGeom prst="oval">
            <a:avLst/>
          </a:prstGeom>
          <a:ln w="19050">
            <a:solidFill>
              <a:srgbClr val="2038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97480"/>
            <a:ext cx="1371600" cy="1371600"/>
          </a:xfrm>
          <a:prstGeom prst="oval">
            <a:avLst/>
          </a:prstGeom>
          <a:solidFill>
            <a:srgbClr val="1E34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305409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74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51760" y="27432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tap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697480" y="3886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00" dirty="0">
                <a:solidFill>
                  <a:srgbClr val="D4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a wristband in the app      </a:t>
            </a:r>
            <a:pPr indent="0" marL="0">
              <a:buNone/>
            </a:pPr>
            <a:r>
              <a:rPr lang="en-US" sz="14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00" dirty="0">
                <a:solidFill>
                  <a:srgbClr val="D4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it at a vendor stand      </a:t>
            </a:r>
            <a:pPr indent="0" marL="0">
              <a:buNone/>
            </a:pPr>
            <a:r>
              <a:rPr lang="en-US" sz="1400" b="1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00" dirty="0">
                <a:solidFill>
                  <a:srgbClr val="D4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offline, tap again, watch it sync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On-Chip Reconciliation for Closed-Loop Festival Payments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881567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9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  · 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33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97280"/>
            <a:ext cx="4754880" cy="4754880"/>
          </a:xfrm>
          <a:prstGeom prst="oval">
            <a:avLst/>
          </a:prstGeom>
          <a:ln w="19050">
            <a:solidFill>
              <a:srgbClr val="2440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8803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7955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network is mostly there, treating offline as a bounded fallback — not the foundation — is simpler to build and easier to operate, as long as the chip carries enough state to keep the rare offline path safe.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66928" y="4709160"/>
            <a:ext cx="2926080" cy="0"/>
          </a:xfrm>
          <a:prstGeom prst="line">
            <a:avLst/>
          </a:prstGeom>
          <a:noFill/>
          <a:ln w="25400">
            <a:solidFill>
              <a:srgbClr val="C290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623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Tudor Esan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Advanced Information Systems  ·  Supervisor: Assoc. Prof. Christian Sacărea, PhD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Closed-Loop Festival Payments — Master Thesis Defense</dc:title>
  <dc:subject>PptxGenJS Presentation</dc:subject>
  <dc:creator>Tudor Esan</dc:creator>
  <cp:lastModifiedBy>Tudor Esan</cp:lastModifiedBy>
  <cp:revision>1</cp:revision>
  <dcterms:created xsi:type="dcterms:W3CDTF">2026-06-28T12:34:23Z</dcterms:created>
  <dcterms:modified xsi:type="dcterms:W3CDTF">2026-06-28T12:34:23Z</dcterms:modified>
</cp:coreProperties>
</file>